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8" r:id="rId4"/>
    <p:sldId id="259" r:id="rId5"/>
    <p:sldId id="260" r:id="rId6"/>
    <p:sldId id="266" r:id="rId7"/>
    <p:sldId id="267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55BDDA-B951-41CC-A9D6-4A2AD8228B1D}">
          <p14:sldIdLst>
            <p14:sldId id="256"/>
            <p14:sldId id="265"/>
            <p14:sldId id="258"/>
            <p14:sldId id="259"/>
            <p14:sldId id="260"/>
            <p14:sldId id="266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 autoAdjust="0"/>
  </p:normalViewPr>
  <p:slideViewPr>
    <p:cSldViewPr snapToGrid="0" snapToObjects="1">
      <p:cViewPr varScale="1">
        <p:scale>
          <a:sx n="97" d="100"/>
          <a:sy n="9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09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78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65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52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1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83A650-20C5-45F2-BFDD-D754E2FB7F4C}"/>
              </a:ext>
            </a:extLst>
          </p:cNvPr>
          <p:cNvSpPr/>
          <p:nvPr/>
        </p:nvSpPr>
        <p:spPr>
          <a:xfrm>
            <a:off x="-378874" y="-68580"/>
            <a:ext cx="968229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KRA Mapping and Dashboarding</a:t>
            </a:r>
            <a:endParaRPr lang="en-US" sz="4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2944368"/>
            <a:ext cx="1280160" cy="50292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30632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HRBP effectiveness through data-driven KPIs,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governance and a centralised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4023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4480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4023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4480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4023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53712" y="4480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56832" y="4023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56832" y="4480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  ·  Internal Reference  ·  For Review &amp; Direction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18AB62-4801-4386-A3EE-B14D818E4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What We Are Solving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angles - leadership visibility and HRBP day-to-day experience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36576" cy="173736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Organisation's Lens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framework to define what good HRBP performance looks like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536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reviews with Head HR are inconsistent - format varies, data is scattered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883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1883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effectiveness is invisible - decisions are qualitative, not data-backed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2311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231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way to compare performance across HRBPs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841248"/>
            <a:ext cx="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841248"/>
            <a:ext cx="0" cy="192024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68680"/>
            <a:ext cx="36576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HRBP's Lens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1188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SPOCs share different pendencies over email - no single consolidated 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93208" y="15361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what to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everything feels equally urgent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883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3208" y="1883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firefighting rather than on high-impact 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2311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22311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measure of performance - feedback is inconsistent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907792"/>
            <a:ext cx="83210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017520"/>
            <a:ext cx="36576" cy="16916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17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Solving For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3310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centralised, data-backed HRBP performance framework that gives leadership objective visibility and gives HRBPs a single source of truth - mapped to priorities, scored monthly, and actionable.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985223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300" b="1" dirty="0">
                <a:solidFill>
                  <a:srgbClr val="D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HRBP has a monthly score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06040" y="3985223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300" b="1" dirty="0">
                <a:solidFill>
                  <a:srgbClr val="D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explainable and objective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3985223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300" b="1" dirty="0">
                <a:solidFill>
                  <a:srgbClr val="D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HRBPs know exactly what to fix and why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3985223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300" b="1" dirty="0">
                <a:solidFill>
                  <a:srgbClr val="D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sees all HRBPs in one view</a:t>
            </a:r>
            <a:endParaRPr lang="en-US" sz="13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5D1FDBC-5DCC-403F-822D-1ABA6FF3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 from discovery to implementation - structured, evidence-led delivery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92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17043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Time-spend data from 4 HRBPs (2 ops, 2 non-ops). 81 granular tasks mapped.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60920" y="1005840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005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1444752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4533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3232" y="1545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174650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SHRM, Deloitte, Mercer, Gartner research. Best-practice HRBP role expectations.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1581912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58191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2020824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214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2121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232257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HR team consultation. Data source inventory per KPI built.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60920" y="2157984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215798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2596896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9748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13232" y="2697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289864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KRAs, 10 KPIs, weights, targets and scoring logic finalised.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60920" y="2734056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273405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" y="3172968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2735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13232" y="32735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347472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prototype built. Tool architecture scoped. Data sources mapped.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40880" y="3310128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3101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8368" y="3749040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84962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13232" y="38496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Rollout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" y="40507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cadence, adoption mechanism, SPOC alignment plan.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60920" y="3886200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388620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8368" y="4325112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42569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713232" y="4425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Implementation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" y="462686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HR presentation → pilot → refine → scale to all HRBPs.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60920" y="4462272"/>
            <a:ext cx="685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446227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2FA107D-0AD4-4E3F-A677-65C85B74C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Framework: Key Result Areas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outcome-based dimensions of HRBP accountability - mutually exclusive, measurable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41148" cy="35844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3959" y="111677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9788" y="236143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Stability &amp; Productivity</a:t>
            </a:r>
          </a:p>
        </p:txBody>
      </p:sp>
      <p:sp>
        <p:nvSpPr>
          <p:cNvPr id="12" name="Shape 10"/>
          <p:cNvSpPr/>
          <p:nvPr/>
        </p:nvSpPr>
        <p:spPr>
          <a:xfrm>
            <a:off x="594360" y="1874520"/>
            <a:ext cx="256032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" y="319607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productive headcount and minimise the human capital cost of attrition, abscondment, and poor onboarding.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868680"/>
            <a:ext cx="6401" cy="3584448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868680"/>
            <a:ext cx="41148" cy="358444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38599" y="111677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439973" y="228781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</a:t>
            </a:r>
          </a:p>
        </p:txBody>
      </p:sp>
      <p:sp>
        <p:nvSpPr>
          <p:cNvPr id="24" name="Shape 22"/>
          <p:cNvSpPr/>
          <p:nvPr/>
        </p:nvSpPr>
        <p:spPr>
          <a:xfrm>
            <a:off x="3429000" y="1874520"/>
            <a:ext cx="256032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6501" y="319607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employee interaction with HR reinforces trust, belonging, and engagement. Drive positive eNPS.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868680"/>
            <a:ext cx="6401" cy="3584448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868680"/>
            <a:ext cx="41148" cy="3584448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3239" y="111677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263640" y="228781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Process Adherence</a:t>
            </a:r>
          </a:p>
        </p:txBody>
      </p:sp>
      <p:sp>
        <p:nvSpPr>
          <p:cNvPr id="36" name="Shape 34"/>
          <p:cNvSpPr/>
          <p:nvPr/>
        </p:nvSpPr>
        <p:spPr>
          <a:xfrm>
            <a:off x="6263640" y="1874520"/>
            <a:ext cx="256032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1481" y="326534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Derisk the organisation from legal and statutory failure. Ensure every process touchpoint is executed accurately and on time.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6817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KRA 4 - Talent Management - scoped for a future phase. Good Attrition tracked diagnostically at 0% weight.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0FFBA97-B89C-43BB-A6B8-C2B3730B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Framework: KPIs &amp; Weightages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KPIs across 3 KRAs - each with defined weight, target, scale type and data 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64755" y="8961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09123" y="8961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0371" y="896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3643" y="8961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87731" y="896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flipV="1">
            <a:off x="1036739" y="1121969"/>
            <a:ext cx="7827264" cy="45719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9592" y="1149401"/>
            <a:ext cx="41148" cy="1463040"/>
          </a:xfrm>
          <a:prstGeom prst="rect">
            <a:avLst/>
          </a:prstGeom>
          <a:solidFill>
            <a:srgbClr val="0D7E76"/>
          </a:solidFill>
          <a:ln w="12700">
            <a:solidFill>
              <a:srgbClr val="0D7E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7323" y="1170432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4755" y="122529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ELP / Probation Connect Completion 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90835" y="12252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0371" y="1225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3643" y="122529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87731" y="12252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Tracked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37323" y="1527048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7323" y="1536192"/>
            <a:ext cx="7699248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4755" y="159105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Attrition 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90835" y="1591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0371" y="1591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3643" y="15910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87731" y="159105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Tracked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37323" y="1892808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7323" y="1901952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4755" y="195681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Attrition % (&lt;6 months)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90835" y="19568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0371" y="19568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3643" y="19568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87731" y="195681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Tracked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37323" y="2258568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7323" y="2267712"/>
            <a:ext cx="7699248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4755" y="232257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Attrition % (diagnostic - 0% weight)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090835" y="23225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50371" y="23225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3643" y="232257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87731" y="232257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Tracked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36739" y="2594154"/>
            <a:ext cx="7827264" cy="45719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0282" y="2678413"/>
            <a:ext cx="41148" cy="10972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7323" y="2670048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4755" y="2724912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Score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90835" y="2724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50371" y="27249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83643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87731" y="272491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Tracked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37323" y="3026664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7323" y="3035808"/>
            <a:ext cx="7699248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64755" y="3090672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/ Fun Friday Events Completion 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090835" y="30906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50371" y="3090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4/month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83643" y="30906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87731" y="30906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Self-report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137323" y="3392424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7323" y="3401568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64755" y="3456432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Goodies / Lifecycle Completion 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090835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50371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983643" y="34564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687731" y="34564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+ Central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 flipV="1">
            <a:off x="1036739" y="3773729"/>
            <a:ext cx="7827264" cy="45719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6739" y="3827367"/>
            <a:ext cx="41148" cy="109728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37323" y="3803904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64755" y="385876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Pendency 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090835" y="3858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50371" y="3858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983643" y="3858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687731" y="38587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SPOCs / Auto-calc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137323" y="4160520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37323" y="4169664"/>
            <a:ext cx="7699248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64755" y="422452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Support TAT (working days)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090835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950371" y="4224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days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983643" y="42245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687731" y="42245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Centrally Tracked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137323" y="4526280"/>
            <a:ext cx="7699248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37323" y="4535424"/>
            <a:ext cx="76992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64755" y="459028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Logout %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090835" y="4590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950371" y="4590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983643" y="45902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687731" y="45902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Centrally Tracked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34403" y="4901184"/>
            <a:ext cx="8229600" cy="6401"/>
          </a:xfrm>
          <a:prstGeom prst="rect">
            <a:avLst/>
          </a:prstGeom>
          <a:solidFill>
            <a:srgbClr val="D1DCE2"/>
          </a:solidFill>
          <a:ln w="12700">
            <a:solidFill>
              <a:srgbClr val="D1DC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KPI weight = 100%  ·  Good Attrition tracked diagnostically, not scored</a:t>
            </a:r>
            <a:endParaRPr lang="en-US" sz="8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9AAFDE7C-9DF7-4142-9E87-94F9394288BB}"/>
              </a:ext>
            </a:extLst>
          </p:cNvPr>
          <p:cNvSpPr/>
          <p:nvPr/>
        </p:nvSpPr>
        <p:spPr>
          <a:xfrm>
            <a:off x="148851" y="1716329"/>
            <a:ext cx="1318366" cy="64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Stability &amp; Productivity</a:t>
            </a:r>
          </a:p>
        </p:txBody>
      </p:sp>
      <p:sp>
        <p:nvSpPr>
          <p:cNvPr id="89" name="Text 21">
            <a:extLst>
              <a:ext uri="{FF2B5EF4-FFF2-40B4-BE49-F238E27FC236}">
                <a16:creationId xmlns:a16="http://schemas.microsoft.com/office/drawing/2014/main" id="{F3EDEB2E-9329-428C-8D07-7C204D92A54B}"/>
              </a:ext>
            </a:extLst>
          </p:cNvPr>
          <p:cNvSpPr/>
          <p:nvPr/>
        </p:nvSpPr>
        <p:spPr>
          <a:xfrm>
            <a:off x="175095" y="2982698"/>
            <a:ext cx="882218" cy="438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B1AA93E-4268-4EF5-B070-C059ACD163B4}"/>
              </a:ext>
            </a:extLst>
          </p:cNvPr>
          <p:cNvSpPr/>
          <p:nvPr/>
        </p:nvSpPr>
        <p:spPr>
          <a:xfrm>
            <a:off x="175095" y="3975658"/>
            <a:ext cx="1046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Process Adherence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C62DF066-2755-4D63-86D7-6B0D88FE8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66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PMS-style 1–10 scale - five scale types, each tuned to the nature and criticality of the KPI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41248"/>
            <a:ext cx="36576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41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Calculation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88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Achievement % = Actual ÷ Target × 100  (Direct: higher = better)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Achievement % = Target ÷ Actual × 100  (Reverse: lower = better)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Apply scale type to achievement % → score 1–10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Final Score = Σ (KPI Score × KPI Weight)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411480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83080"/>
            <a:ext cx="36576" cy="265176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→ Scale Mapping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48256"/>
            <a:ext cx="3977640" cy="25603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94360" y="20848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ELP / 1 on 1 Connect completion 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2084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30428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591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Attrition 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3591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57860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596896"/>
            <a:ext cx="3977640" cy="25603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334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Attrition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11880" y="26334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85292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9077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Score (as % of target)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11880" y="29077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12724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145536"/>
            <a:ext cx="3977640" cy="25603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594360" y="31821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Completion 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11880" y="31821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40156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594360" y="34564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Goodies / Lifecycle Completion 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11880" y="3456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67588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694176"/>
            <a:ext cx="3977640" cy="25603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307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Pendency 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11880" y="3730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95020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005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Support TAT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0050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22452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242816"/>
            <a:ext cx="3977640" cy="256032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279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Logout 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11880" y="42793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4498848"/>
            <a:ext cx="39776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841248"/>
            <a:ext cx="0" cy="4133088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841248"/>
            <a:ext cx="36576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01768" y="84124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Definitions  ·  Achievement % vs Target → Score</a:t>
            </a:r>
            <a:endParaRPr lang="en-US" sz="11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0425"/>
              </p:ext>
            </p:extLst>
          </p:nvPr>
        </p:nvGraphicFramePr>
        <p:xfrm>
          <a:off x="4864608" y="1115568"/>
          <a:ext cx="3913630" cy="3794760"/>
        </p:xfrm>
        <a:graphic>
          <a:graphicData uri="http://schemas.openxmlformats.org/drawingml/2006/table">
            <a:tbl>
              <a:tblPr/>
              <a:tblGrid>
                <a:gridCol w="401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138">
                  <a:extLst>
                    <a:ext uri="{9D8B030D-6E8A-4147-A177-3AD203B41FA5}">
                      <a16:colId xmlns:a16="http://schemas.microsoft.com/office/drawing/2014/main" val="2910757898"/>
                    </a:ext>
                  </a:extLst>
                </a:gridCol>
                <a:gridCol w="538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C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SLA/TAT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3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3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&gt;=100%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&gt;95%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&gt;93%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&gt;90%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&gt;85%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&gt;80%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&gt;75%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&gt;70%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&gt;60%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&lt;60%</a:t>
                      </a: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" name="Text 47"/>
          <p:cNvSpPr/>
          <p:nvPr/>
        </p:nvSpPr>
        <p:spPr>
          <a:xfrm>
            <a:off x="365762" y="462229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scales (P): higher achievement = better score.  Reverse scales (R): lower achievement % = better score.</a:t>
            </a:r>
            <a:endParaRPr lang="en-US" sz="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5F22CE4-C607-4A48-96D4-A57F1EA9E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4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 ·  Current vs Ideal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- organised, scored, and delivered very differently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41248"/>
            <a:ext cx="36576" cy="2286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41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1338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SPOC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84832" y="11338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F&amp;F, Attendance data → Email to HRBP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481328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3619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 Team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84832" y="1536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 closure data → Email to HRBP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1883664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3852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Team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84832" y="1938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→ Email to HRBP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408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Excellence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84832" y="2340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Pendency lists → Email to HRBP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688336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Team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84832" y="27432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eNPS, Engagement data → Email to HRBP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090672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4553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84832" y="31455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data → Email to HRBP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493008"/>
            <a:ext cx="3639312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21024"/>
            <a:ext cx="3639312" cy="566928"/>
          </a:xfrm>
          <a:prstGeom prst="rect">
            <a:avLst/>
          </a:prstGeom>
          <a:solidFill>
            <a:srgbClr val="FEF2F1"/>
          </a:solidFill>
          <a:ln w="9525">
            <a:solidFill>
              <a:srgbClr val="E05C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758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85876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emails. No single view. No scoring. No priority order. Manual consolidation. Reactive response.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841248"/>
            <a:ext cx="0" cy="3511296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246888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841248"/>
            <a:ext cx="36576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841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1133856"/>
            <a:ext cx="36576" cy="402336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15214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135331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 · HRMS · LMS · Survey Tool · PB Support · HR MIS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1554480"/>
            <a:ext cx="402336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609344"/>
            <a:ext cx="36576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62763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sync to HRBP Tool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182880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pull - no manual uploads, real-time data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029968"/>
            <a:ext cx="402336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084832"/>
            <a:ext cx="36576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10312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auto-calculates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23042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Pendency % · KPI scores · KRA scores · Final score 1–10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2505456"/>
            <a:ext cx="402336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560320"/>
            <a:ext cx="36576" cy="402336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257860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self-fills 3 items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277977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· Engagement events · Goodies / Lifecycle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2980944"/>
            <a:ext cx="402336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035808"/>
            <a:ext cx="36576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05409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dashboard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325526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per HRBP - scored, prioritised, trend-visible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3456432"/>
            <a:ext cx="402336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621024"/>
            <a:ext cx="3886200" cy="566928"/>
          </a:xfrm>
          <a:prstGeom prst="rect">
            <a:avLst/>
          </a:prstGeom>
          <a:solidFill>
            <a:srgbClr val="F0FAF9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36758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83480" y="38587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dashboard. Objective scores. Clear priorities. Trends visible. Proactive HR delivery.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1480" y="4315968"/>
            <a:ext cx="8321040" cy="0"/>
          </a:xfrm>
          <a:prstGeom prst="line">
            <a:avLst/>
          </a:prstGeom>
          <a:noFill/>
          <a:ln w="9525">
            <a:solidFill>
              <a:srgbClr val="D1DC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3708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 Now → Excel prototype (proves concept)  ·  1–2 months → Pilot with 2–3 HRBPs  ·  3–6 months → In-house tool with Darwinbox API integration</a:t>
            </a:r>
            <a:endParaRPr lang="en-US" sz="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10FA2B8-438D-4462-AC2C-AB1FD70CA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1603390" y="23200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6A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84D35E-9850-4CFE-9E87-1E65DDDC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73" y="0"/>
            <a:ext cx="508715" cy="5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6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</TotalTime>
  <Words>1242</Words>
  <Application>Microsoft Office PowerPoint</Application>
  <PresentationFormat>On-screen Show (16:9)</PresentationFormat>
  <Paragraphs>298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Chirag Kumar2</cp:lastModifiedBy>
  <cp:revision>10</cp:revision>
  <dcterms:created xsi:type="dcterms:W3CDTF">2026-04-28T06:40:01Z</dcterms:created>
  <dcterms:modified xsi:type="dcterms:W3CDTF">2026-04-30T04:07:43Z</dcterms:modified>
</cp:coreProperties>
</file>